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29" Type="http://schemas.openxmlformats.org/officeDocument/2006/relationships/slide" Target="slides/slide26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6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71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83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2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97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2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61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6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32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05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A28687-146D-4060-8017-8C9604A3F753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5A00569-3E8D-4985-A722-17ADC680955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09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" TargetMode="External"/><Relationship Id="rId2" Type="http://schemas.openxmlformats.org/officeDocument/2006/relationships/hyperlink" Target="https://developer.mozilla.org/en-US/docs/Web/API/StyleShe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XML/XML_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3E90-0B7F-AD9F-D4A5-F03BAB0D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370" y="0"/>
            <a:ext cx="3259015" cy="961414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0EB5E-F48B-0297-190B-36A8B724F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485" y="1213338"/>
            <a:ext cx="11500338" cy="54160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course.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HTML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tags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  <a:p>
            <a:pPr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Layouts</a:t>
            </a:r>
          </a:p>
          <a:p>
            <a:pPr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Flexbox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5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B7C-A137-98F9-97C4-9FCE8FF3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9901897" cy="85639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HTML, CSS, JS.</a:t>
            </a:r>
          </a:p>
        </p:txBody>
      </p:sp>
      <p:pic>
        <p:nvPicPr>
          <p:cNvPr id="1026" name="Picture 2" descr="Discover the Differences Between HTML, CSS, and Javascript - Golden Owl">
            <a:extLst>
              <a:ext uri="{FF2B5EF4-FFF2-40B4-BE49-F238E27FC236}">
                <a16:creationId xmlns:a16="http://schemas.microsoft.com/office/drawing/2014/main" id="{9E69E05C-165A-5B93-07CA-130B6DDD7E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819" y="1846263"/>
            <a:ext cx="4212687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50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6D10-2782-444E-E630-83597252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is used to structure a webpage</a:t>
            </a:r>
          </a:p>
        </p:txBody>
      </p:sp>
      <p:pic>
        <p:nvPicPr>
          <p:cNvPr id="2052" name="Picture 4" descr="[HTML-Tutorial-6] | How to structure your web page &amp; content? | Web  Development for Beginners">
            <a:extLst>
              <a:ext uri="{FF2B5EF4-FFF2-40B4-BE49-F238E27FC236}">
                <a16:creationId xmlns:a16="http://schemas.microsoft.com/office/drawing/2014/main" id="{27B80147-DDE8-296B-6EB3-6591EF693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008" y="1845733"/>
            <a:ext cx="7209692" cy="405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6B5B7-D7A7-AC5B-CA2B-75508C50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04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C519-FD6F-5346-6BAF-2FA2EF7B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tags are the containers used to structure a webpage</a:t>
            </a:r>
          </a:p>
        </p:txBody>
      </p:sp>
      <p:pic>
        <p:nvPicPr>
          <p:cNvPr id="2050" name="Picture 2" descr="Is HTML used to create top websites and if it is, what is PHP used for? -  Quora">
            <a:extLst>
              <a:ext uri="{FF2B5EF4-FFF2-40B4-BE49-F238E27FC236}">
                <a16:creationId xmlns:a16="http://schemas.microsoft.com/office/drawing/2014/main" id="{6B8FDBDB-0389-C5A7-6E46-406ADADE9B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561" y="1846263"/>
            <a:ext cx="442720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79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52C3-7E2A-F9C8-75FA-6E02EB95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HTML tags</a:t>
            </a:r>
          </a:p>
        </p:txBody>
      </p:sp>
      <p:pic>
        <p:nvPicPr>
          <p:cNvPr id="5122" name="Picture 2" descr="HTML Basics - Tags for Beginners - GeekInspired.com : GeekInspired.com">
            <a:extLst>
              <a:ext uri="{FF2B5EF4-FFF2-40B4-BE49-F238E27FC236}">
                <a16:creationId xmlns:a16="http://schemas.microsoft.com/office/drawing/2014/main" id="{59B404A0-CC54-EAFA-C505-B9289D4812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530" y="1959870"/>
            <a:ext cx="5355737" cy="357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00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23AD-8CA7-6027-025F-1ED65D4F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in HTML</a:t>
            </a:r>
          </a:p>
        </p:txBody>
      </p:sp>
      <p:pic>
        <p:nvPicPr>
          <p:cNvPr id="3074" name="Picture 2" descr="What is HTML comment - HTML tutorials - w3resource">
            <a:extLst>
              <a:ext uri="{FF2B5EF4-FFF2-40B4-BE49-F238E27FC236}">
                <a16:creationId xmlns:a16="http://schemas.microsoft.com/office/drawing/2014/main" id="{FA1766BB-0C07-189D-13E1-A8B7DD51DC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006" y="2236177"/>
            <a:ext cx="7647988" cy="272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65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ACE1-FB04-4520-0900-60360A46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0BA-F71A-443A-F74C-1CD87A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all the basic tags to display the following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AF05A-AF81-9667-CD07-AB042DB24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57" r="67861" b="41156"/>
          <a:stretch/>
        </p:blipFill>
        <p:spPr>
          <a:xfrm>
            <a:off x="4013409" y="2919045"/>
            <a:ext cx="4031551" cy="239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6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DDEE-EB01-5BCB-8E2A-91DFEF61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C5DAD3-5EB5-92BF-88AB-B23C892AC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605" y="2014281"/>
            <a:ext cx="7821116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3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4205-8569-E384-2B3D-FAC1A5EE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23" y="286603"/>
            <a:ext cx="11025553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attributes are used to add information to the tags</a:t>
            </a:r>
          </a:p>
        </p:txBody>
      </p:sp>
      <p:pic>
        <p:nvPicPr>
          <p:cNvPr id="6146" name="Picture 2" descr="HTML Attributes Explained">
            <a:extLst>
              <a:ext uri="{FF2B5EF4-FFF2-40B4-BE49-F238E27FC236}">
                <a16:creationId xmlns:a16="http://schemas.microsoft.com/office/drawing/2014/main" id="{BECB31D0-B593-2E17-5BCF-4B09912A04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" b="14080"/>
          <a:stretch/>
        </p:blipFill>
        <p:spPr bwMode="auto">
          <a:xfrm>
            <a:off x="2259623" y="2052738"/>
            <a:ext cx="7394331" cy="306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547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A503-486C-AC15-8522-876429A4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 tag is used to add links to the web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0DCAF-BE2B-D3F2-BC35-6A1511F56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777" y="2414461"/>
            <a:ext cx="7248446" cy="2227878"/>
          </a:xfrm>
        </p:spPr>
      </p:pic>
    </p:spTree>
    <p:extLst>
      <p:ext uri="{BB962C8B-B14F-4D97-AF65-F5344CB8AC3E}">
        <p14:creationId xmlns:p14="http://schemas.microsoft.com/office/powerpoint/2010/main" val="344641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9C9E-2218-9714-6006-FE868B60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between pages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CFE87-C3D1-031E-F052-5E486BBDB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63" t="34250" r="6401" b="35720"/>
          <a:stretch/>
        </p:blipFill>
        <p:spPr>
          <a:xfrm>
            <a:off x="373084" y="2905128"/>
            <a:ext cx="5056993" cy="12859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275AA-220A-2C06-9273-1E6FED44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051" y="2690747"/>
            <a:ext cx="2162477" cy="1714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4BD36-4556-540A-56F5-A51A332A9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245" y="3090328"/>
            <a:ext cx="1857634" cy="120031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36B3060-71DA-3A96-5F93-27149DECE955}"/>
              </a:ext>
            </a:extLst>
          </p:cNvPr>
          <p:cNvSpPr/>
          <p:nvPr/>
        </p:nvSpPr>
        <p:spPr>
          <a:xfrm>
            <a:off x="5512777" y="3333736"/>
            <a:ext cx="812038" cy="499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571F6D7-465A-049D-63AD-B0913AFB46BA}"/>
              </a:ext>
            </a:extLst>
          </p:cNvPr>
          <p:cNvSpPr/>
          <p:nvPr/>
        </p:nvSpPr>
        <p:spPr>
          <a:xfrm>
            <a:off x="8764249" y="3333736"/>
            <a:ext cx="812038" cy="499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0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4DE4-5B83-76C0-B293-BEB17D9A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BB4182-301E-A829-F2AA-330548187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4798" y="2984051"/>
            <a:ext cx="1916702" cy="8898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5EA9E3-9683-4A48-7093-79F20C1A9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716" y="2079750"/>
            <a:ext cx="3095608" cy="3726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8EB472-4F63-6186-D547-16DC49E9B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52" y="2984051"/>
            <a:ext cx="4786198" cy="118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2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E1ED-1AAF-4C02-1A09-666569C6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to add next line break to the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84C58-C7E9-231D-A4DB-C8948B1D0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8377" y="2376848"/>
            <a:ext cx="1837391" cy="1780858"/>
          </a:xfrm>
        </p:spPr>
      </p:pic>
    </p:spTree>
    <p:extLst>
      <p:ext uri="{BB962C8B-B14F-4D97-AF65-F5344CB8AC3E}">
        <p14:creationId xmlns:p14="http://schemas.microsoft.com/office/powerpoint/2010/main" val="1586510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5525-339E-1F8D-F770-526FBD63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Bold, Italic &amp; Underline tags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1B268DC5-D032-306E-FBA2-9D676BBC6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591" y="2611315"/>
            <a:ext cx="3907380" cy="250932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AFFB2C-3668-D331-DFDD-11F8CF6BF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152" y="2726123"/>
            <a:ext cx="2817294" cy="232733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7B426A0A-792C-1371-23C8-2EA41CC3C0D6}"/>
              </a:ext>
            </a:extLst>
          </p:cNvPr>
          <p:cNvSpPr/>
          <p:nvPr/>
        </p:nvSpPr>
        <p:spPr>
          <a:xfrm>
            <a:off x="5196254" y="3429000"/>
            <a:ext cx="1354015" cy="5978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553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7209-8CD6-A0A8-E02A-DC1371ED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ruler</a:t>
            </a:r>
          </a:p>
        </p:txBody>
      </p:sp>
      <p:pic>
        <p:nvPicPr>
          <p:cNvPr id="7176" name="Picture 8" descr="How to Insert Horizontal Line: Learn Definition, Examples and FAQs">
            <a:extLst>
              <a:ext uri="{FF2B5EF4-FFF2-40B4-BE49-F238E27FC236}">
                <a16:creationId xmlns:a16="http://schemas.microsoft.com/office/drawing/2014/main" id="{80263B22-8822-AF4D-C602-A55DAB2A00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16" r="7179" b="15849"/>
          <a:stretch/>
        </p:blipFill>
        <p:spPr bwMode="auto">
          <a:xfrm>
            <a:off x="1934016" y="3305907"/>
            <a:ext cx="8616754" cy="162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E29BF-1426-F362-AD41-D6F105604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232" y="2047741"/>
            <a:ext cx="1542751" cy="125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23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F545-A6CA-7F64-F125-7D7A421B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 &amp; superscript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A5751F-67E8-0512-DC68-E7DF8D36C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160" y="2497016"/>
            <a:ext cx="4587114" cy="26236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E7AF3-65F7-AC7B-937B-8449BE430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640" b="20683"/>
          <a:stretch/>
        </p:blipFill>
        <p:spPr>
          <a:xfrm>
            <a:off x="7675652" y="2927710"/>
            <a:ext cx="1318880" cy="145075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5A84A55-4376-5713-B5A5-7C7B2512343D}"/>
              </a:ext>
            </a:extLst>
          </p:cNvPr>
          <p:cNvSpPr/>
          <p:nvPr/>
        </p:nvSpPr>
        <p:spPr>
          <a:xfrm>
            <a:off x="5943600" y="3516923"/>
            <a:ext cx="1336431" cy="404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242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8826-7521-C9FE-7C4E-3025CAF9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B512-48A2-7DBD-A5DF-7E2F10D09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4 webpages ( Home, Name, Qualification, Hobby). User should be able to navigate between these pages.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FD208-FA26-FE41-B856-FC61B2959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825" y="2795932"/>
            <a:ext cx="6301505" cy="21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2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0F6F-9DFD-69D7-C918-F18B6289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98" y="168812"/>
            <a:ext cx="7721404" cy="8229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&amp; non-semantic tags</a:t>
            </a:r>
          </a:p>
        </p:txBody>
      </p:sp>
      <p:pic>
        <p:nvPicPr>
          <p:cNvPr id="8194" name="Picture 2" descr="Semantic HTML: What It Is and How to Use It Correctly">
            <a:extLst>
              <a:ext uri="{FF2B5EF4-FFF2-40B4-BE49-F238E27FC236}">
                <a16:creationId xmlns:a16="http://schemas.microsoft.com/office/drawing/2014/main" id="{646F4EB6-A84D-8C3A-5A1B-7E173FA830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41" b="7325"/>
          <a:stretch/>
        </p:blipFill>
        <p:spPr bwMode="auto">
          <a:xfrm>
            <a:off x="2830849" y="1076447"/>
            <a:ext cx="6530302" cy="51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87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B21F-DA26-5F6A-1E36-C0423A14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97B43E-4B6A-B5CA-6E4F-6EB27CAD5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3923" y="1953167"/>
            <a:ext cx="2812446" cy="379319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896E44-46D1-2777-3FB3-CF3B653FC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06" y="1816306"/>
            <a:ext cx="3591863" cy="393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5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56E9-128D-A648-55F1-F6C0CB3D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Tables: &lt;tr&gt; &lt;td&gt; &lt;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DACDA-CCFA-F5F7-CFC0-EFDBAD654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9441" y="2367226"/>
            <a:ext cx="2434705" cy="33298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2CB38D-B930-E5BE-52A1-05CAC6C8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947" y="1853529"/>
            <a:ext cx="3458583" cy="435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14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609A-8837-C92E-413F-EDE3238F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571" y="148361"/>
            <a:ext cx="1944858" cy="84054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595C5-013A-2ECA-999A-BB21D6075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1333" y="2382716"/>
            <a:ext cx="4646409" cy="19930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456BB-25AE-7B77-14C7-0346283BC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52" y="1923416"/>
            <a:ext cx="6312474" cy="420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52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E47A-9AFF-4988-254C-D33252A6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223" y="249456"/>
            <a:ext cx="2015197" cy="70866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FC57D8-D3CE-FB0F-EF69-EB99234EB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327" y="1028700"/>
            <a:ext cx="7067288" cy="51651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8738B-02BF-1A16-919B-287CAE83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957" y="1657102"/>
            <a:ext cx="4494719" cy="43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19CA-C99D-84F7-BD9C-789ADB05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70F35-8FD0-7341-4C90-BFB71604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b="1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is a </a:t>
            </a:r>
            <a:r>
              <a:rPr lang="en-US" b="0" i="0" u="sng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stylesheet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language used to describe the presentation of a document written in </a:t>
            </a:r>
            <a:r>
              <a:rPr lang="en-US" b="0" i="0" u="sng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HTML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b="0" i="0" u="sng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XML</a:t>
            </a:r>
            <a:r>
              <a:rPr lang="en-US" b="0" i="0" u="sng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Inter"/>
              </a:rPr>
              <a:t>CSS is what you use to selectively style HTML elements.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003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B1DE-7A43-88A6-F608-FF682764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Boiler plate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2B6E0F-110E-D8F0-20AE-C3990373C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693" y="1864516"/>
            <a:ext cx="5298938" cy="4288158"/>
          </a:xfrm>
        </p:spPr>
      </p:pic>
    </p:spTree>
    <p:extLst>
      <p:ext uri="{BB962C8B-B14F-4D97-AF65-F5344CB8AC3E}">
        <p14:creationId xmlns:p14="http://schemas.microsoft.com/office/powerpoint/2010/main" val="1717643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6FA3-8F55-82F8-1738-CFA610CE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Targeting a block from HTML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DEA8B7-4781-69F3-4B5A-865D31693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579" y="2312376"/>
            <a:ext cx="7617704" cy="20483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C7364C-0BD0-D29B-3C2D-EFA690C43B0B}"/>
              </a:ext>
            </a:extLst>
          </p:cNvPr>
          <p:cNvSpPr txBox="1"/>
          <p:nvPr/>
        </p:nvSpPr>
        <p:spPr>
          <a:xfrm>
            <a:off x="1726860" y="5837731"/>
            <a:ext cx="68755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E2E5CA-85DA-91AE-9B32-FDC061E3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005" y="4581797"/>
            <a:ext cx="5016439" cy="158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0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8B3C-1944-0646-048E-C18EBF26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35"/>
            <a:ext cx="10058400" cy="748454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layouts: Absolute &amp; relative positions</a:t>
            </a:r>
          </a:p>
        </p:txBody>
      </p:sp>
      <p:pic>
        <p:nvPicPr>
          <p:cNvPr id="1026" name="Picture 2" descr="Difference between css position absolute versus relative | by Leanne Z |  Medium">
            <a:extLst>
              <a:ext uri="{FF2B5EF4-FFF2-40B4-BE49-F238E27FC236}">
                <a16:creationId xmlns:a16="http://schemas.microsoft.com/office/drawing/2014/main" id="{698F6A20-7603-E4F8-C20D-B5123098CF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80" b="7981"/>
          <a:stretch/>
        </p:blipFill>
        <p:spPr bwMode="auto">
          <a:xfrm>
            <a:off x="4159711" y="1890346"/>
            <a:ext cx="558391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086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AD48-8673-F0CB-215A-53F75D64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744" y="139569"/>
            <a:ext cx="2340512" cy="84933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</a:p>
        </p:txBody>
      </p:sp>
      <p:pic>
        <p:nvPicPr>
          <p:cNvPr id="2050" name="Picture 2" descr="What is Flexbox in CSS?">
            <a:extLst>
              <a:ext uri="{FF2B5EF4-FFF2-40B4-BE49-F238E27FC236}">
                <a16:creationId xmlns:a16="http://schemas.microsoft.com/office/drawing/2014/main" id="{9522B9E0-FD83-807E-EC10-B4093B4570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592" y="1840597"/>
            <a:ext cx="5873262" cy="434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28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FA3E-9B6C-8639-5897-FDC7A58D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203" y="277811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C589A-6BF5-AF5E-E895-0C7E6CEDFB19}"/>
              </a:ext>
            </a:extLst>
          </p:cNvPr>
          <p:cNvSpPr txBox="1"/>
          <p:nvPr/>
        </p:nvSpPr>
        <p:spPr>
          <a:xfrm>
            <a:off x="2628899" y="1956288"/>
            <a:ext cx="758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For any queries contact me at reactwithprabal@gmail.com</a:t>
            </a:r>
          </a:p>
        </p:txBody>
      </p:sp>
    </p:spTree>
    <p:extLst>
      <p:ext uri="{BB962C8B-B14F-4D97-AF65-F5344CB8AC3E}">
        <p14:creationId xmlns:p14="http://schemas.microsoft.com/office/powerpoint/2010/main" val="39482799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